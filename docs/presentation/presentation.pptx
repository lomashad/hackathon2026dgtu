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сновная часть" id="{e9f6c7ee-60ce-1cc8-34ec-98e4e497c35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Резерв" id="{0503edf5-8ec5-5bb3-4522-79d9e1d832e5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0:00–0:17. Здравствуйте! Мы — команда «Опасные, но домашние». Мы сделали помощника по документообороту: сотрудник пишет задачу своими словами, а помощник находит нужный пункт Инструкции, объясняет его простыми словами и помогает сразу сделать документ. Всё работает локально,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0:17–0:35. Помощник уже работает на нашем стенде — его можно открыть по этому QR-коду с телефона. Спрашивать можно так, как пишут коллеге в мессенджер: например, «скока дней на согласавание приказа» или «если отправлю распоряжение на согласавание сегодня, когда будет готово?».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0:35–1:52. Вот пять сценариев, которые мы проверили на стенде. Первый — вопрос своими словами, с опечатками. На экране реальный ответ на вопрос «кагда регистрировать входящий документ»: помощник исправил опечатку, нашёл пункт пять шесть с релевантностью сто процентов и объяснил его простыми словами, а ниже дал дословную цитату и источник с редакцией и датой. Второй — вопрос, ответа на который в документах нет, например про зарплату. Помощник не выдумывает: он честно отказывает и подсказывает, куда обратиться. Третий — неполный вопрос «сколько дней на согласование?». Срок зависит от вида документа, поэтому помощник задаёт один уточняющий вопрос с кнопками. Распоряжение — три рабочих дня, а на короткое «а для приказа?» он отвечает с учётом контекста: десять. Четвёртый — рабочая задача: подготовить распоряжение о создании рабочей группы. Помощник подбирает модуль, называет согласующих по Матрице, задаёт вопросы по полям, проверяет формат ответов и выдаёт готовый файл .docx с чек-листом требований. Пятый — сроки датами: помощник берёт срок из Инструкции и считает крайнюю дату по производственному календарю, без выходных и праздников. Ещё он проверяет загруженный черновик и удобен с телефона.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1:52–2:15. Как это устроено. Модель маленькая и локальная, поэтому всё, что можно посчитать, делает код: поиск, ссылки на пункты, согласующих, сроки, шаблоны и проверку черновика. Модель только объясняет найденный пункт простыми словами, и её текст проверяется: если в пояснении появится число или термин, которых нет в пункте, сотрудник увидит только цитату.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2:15–2:38. Решение рассчитано на закрытый контур: модели работают внутри, исходящих соединений нет, а доступ к закрытым пунктам ограничен прямо в запросе к индексу. Наш стенд — сервер с двумя ядрами без видеокарты, ответ в среднем за три секунды. Для промышленного контура предлагаем единый вход, журнал в системе безопасности и шифрование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2:38–3:00. Мы проверили помощника на девяноста девяти вопросах: сорок из сорока нужных пунктов найдены, девять из девяти честных отказов и ни одной утечки закрытых пунктов. Новые редакции и документы подключаются без правки кода, а на портал виджет ставится одной строкой. Спасибо,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240280"/>
            <a:ext cx="603504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Название</a:t>
            </a: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Заголовок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ERV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Заголовок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Relationship Id="rId8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Знак помощни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6868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7830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1A1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Хакатон «Финтех Хаб» · кейс Банка России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2402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Помощник по документообороту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7490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Найти → понять → сделать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3434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пункт Инструкции · простыми словами · черновик .docx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9834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«Опасные, но домашние»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54406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Ломаш Александр, Скляров Даниил</a:t>
            </a:r>
            <a:endParaRPr lang="en-US" sz="1800" dirty="0"/>
          </a:p>
        </p:txBody>
      </p:sp>
      <p:pic>
        <p:nvPicPr>
          <p:cNvPr id="9" name="Image 1" descr="Портал с виджетом помощни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600200"/>
            <a:ext cx="4553712" cy="3252651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10" name="Shape 6"/>
          <p:cNvSpPr/>
          <p:nvPr/>
        </p:nvSpPr>
        <p:spPr>
          <a:xfrm>
            <a:off x="7086600" y="1600200"/>
            <a:ext cx="4553712" cy="3252651"/>
          </a:xfrm>
          <a:prstGeom prst="roundRect">
            <a:avLst>
              <a:gd name="adj" fmla="val 3373"/>
            </a:avLst>
          </a:prstGeom>
          <a:ln w="12700">
            <a:solidFill>
              <a:srgbClr val="26262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Попробуйте сами: откройте помощника с телефона</a:t>
            </a:r>
            <a:endParaRPr lang="en-US" sz="3200" dirty="0"/>
          </a:p>
        </p:txBody>
      </p:sp>
      <p:sp>
        <p:nvSpPr>
          <p:cNvPr id="3" name="QR-карточка"/>
          <p:cNvSpPr/>
          <p:nvPr/>
        </p:nvSpPr>
        <p:spPr>
          <a:xfrm>
            <a:off x="548640" y="1371600"/>
            <a:ext cx="3749040" cy="4526280"/>
          </a:xfrm>
          <a:prstGeom prst="roundRect">
            <a:avLst>
              <a:gd name="adj" fmla="val 3415"/>
            </a:avLst>
          </a:prstGeom>
          <a:solidFill>
            <a:schemeClr val="bg1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4" name="Image 0" descr="QR-код: https://217-144-184-227.sslip.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463040"/>
            <a:ext cx="2377440" cy="2377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40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217-144-184-227.sslip.io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754880" y="1371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Спросите своими словами</a:t>
            </a:r>
            <a:endParaRPr lang="en-US" sz="2000" dirty="0"/>
          </a:p>
        </p:txBody>
      </p:sp>
      <p:sp>
        <p:nvSpPr>
          <p:cNvPr id="7" name="Пример вопроса"/>
          <p:cNvSpPr/>
          <p:nvPr/>
        </p:nvSpPr>
        <p:spPr>
          <a:xfrm>
            <a:off x="4754880" y="1965960"/>
            <a:ext cx="4663440" cy="1014984"/>
          </a:xfrm>
          <a:prstGeom prst="roundRect">
            <a:avLst>
              <a:gd name="adj" fmla="val 12613"/>
            </a:avLst>
          </a:prstGeom>
          <a:solidFill>
            <a:schemeClr val="bg2"/>
          </a:solidFill>
          <a:ln/>
        </p:spPr>
      </p:sp>
      <p:sp>
        <p:nvSpPr>
          <p:cNvPr id="8" name="Shape 5"/>
          <p:cNvSpPr/>
          <p:nvPr/>
        </p:nvSpPr>
        <p:spPr>
          <a:xfrm>
            <a:off x="4919472" y="2244852"/>
            <a:ext cx="457200" cy="4572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35458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532120" y="2148840"/>
            <a:ext cx="37490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«скока дней на согласавание приказа»</a:t>
            </a:r>
            <a:endParaRPr lang="en-US" sz="1800" dirty="0"/>
          </a:p>
        </p:txBody>
      </p:sp>
      <p:sp>
        <p:nvSpPr>
          <p:cNvPr id="11" name="Пример вопроса"/>
          <p:cNvSpPr/>
          <p:nvPr/>
        </p:nvSpPr>
        <p:spPr>
          <a:xfrm>
            <a:off x="4754880" y="3255264"/>
            <a:ext cx="4663440" cy="1316736"/>
          </a:xfrm>
          <a:prstGeom prst="roundRect">
            <a:avLst>
              <a:gd name="adj" fmla="val 9722"/>
            </a:avLst>
          </a:prstGeom>
          <a:solidFill>
            <a:schemeClr val="bg2"/>
          </a:solidFill>
          <a:ln/>
        </p:spPr>
      </p:sp>
      <p:sp>
        <p:nvSpPr>
          <p:cNvPr id="12" name="Shape 8"/>
          <p:cNvSpPr/>
          <p:nvPr/>
        </p:nvSpPr>
        <p:spPr>
          <a:xfrm>
            <a:off x="4919472" y="3685032"/>
            <a:ext cx="457200" cy="4572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379476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532120" y="3438144"/>
            <a:ext cx="3749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«если отправлю распоряжение на согласавание сегодня когда будет готово?»</a:t>
            </a:r>
            <a:endParaRPr lang="en-US" sz="1800" dirty="0"/>
          </a:p>
        </p:txBody>
      </p:sp>
      <p:pic>
        <p:nvPicPr>
          <p:cNvPr id="15" name="Image 3" descr="Окно помощника на портале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1371600"/>
            <a:ext cx="1947672" cy="2596896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16" name="Shape 10"/>
          <p:cNvSpPr/>
          <p:nvPr/>
        </p:nvSpPr>
        <p:spPr>
          <a:xfrm>
            <a:off x="9692640" y="1371600"/>
            <a:ext cx="1947672" cy="2596896"/>
          </a:xfrm>
          <a:prstGeom prst="roundRect">
            <a:avLst>
              <a:gd name="adj" fmla="val 5634"/>
            </a:avLst>
          </a:prstGeom>
          <a:ln w="12700">
            <a:solidFill>
              <a:srgbClr val="262626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54880" y="5120640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523036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49240" y="5120640"/>
            <a:ext cx="6291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 по учётной записи: данные для жюри [заполнить]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QR репозитория" descr="QR-код: https://github.com/LomashAD/hackathon2026dgtu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4370832"/>
            <a:ext cx="1417320" cy="1417320"/>
          </a:xfrm>
          <a:prstGeom prst="rect">
            <a:avLst/>
          </a:prstGeom>
        </p:spPr>
      </p:pic>
      <p:sp>
        <p:nvSpPr>
          <p:cNvPr id="27" name="Подпись QR репозитория"/>
          <p:cNvSpPr txBox="1"/>
          <p:nvPr/>
        </p:nvSpPr>
        <p:spPr>
          <a:xfrm>
            <a:off x="2194560" y="4370832"/>
            <a:ext cx="2011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 на GitHub</a:t>
            </a:r>
            <a:endParaRPr lang="en-US" sz="1800" dirty="0"/>
          </a:p>
          <a:p>
            <a:pPr algn="l" indent="0" marL="0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github.com/LomashAD/</a:t>
            </a:r>
            <a:endParaRPr lang="en-US" sz="1800" dirty="0"/>
          </a:p>
          <a:p>
            <a:pPr algn="l" indent="0" marL="0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hackathon2026dgtu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сценариев: от вопроса до документа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616659"/>
            <a:ext cx="332842" cy="3328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5727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«скока дней на согласавание…»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48640" y="2395728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2549347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250545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Нет в базе — честный отказ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548640" y="3328416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3482035"/>
            <a:ext cx="332842" cy="33284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343814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Уточнение и «а для приказа?»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548640" y="4261104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4414723"/>
            <a:ext cx="332842" cy="33284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417320" y="437083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Модуль → вопросы → .docx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548640" y="5193792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59" y="5347411"/>
            <a:ext cx="332842" cy="33284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417320" y="53035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Черновик, срок датой, телефон</a:t>
            </a:r>
            <a:endParaRPr lang="en-US" sz="2000" dirty="0"/>
          </a:p>
        </p:txBody>
      </p:sp>
      <p:pic>
        <p:nvPicPr>
          <p:cNvPr id="18" name="Image 5" descr="Ответ помощника: исправлена опечатка, пункт 5.6, релевантность 100 %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992" y="1325880"/>
            <a:ext cx="4846320" cy="4633193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19" name="Shape 11"/>
          <p:cNvSpPr/>
          <p:nvPr/>
        </p:nvSpPr>
        <p:spPr>
          <a:xfrm>
            <a:off x="6793992" y="1325880"/>
            <a:ext cx="4846320" cy="4633193"/>
          </a:xfrm>
          <a:prstGeom prst="roundRect">
            <a:avLst>
              <a:gd name="adj" fmla="val 2368"/>
            </a:avLst>
          </a:prstGeom>
          <a:ln w="12700">
            <a:solidFill>
              <a:srgbClr val="262626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793992" y="6050513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ответ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Ищет и считает код, модель только объясняет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828800" y="1371600"/>
            <a:ext cx="4389120" cy="502920"/>
          </a:xfrm>
          <a:prstGeom prst="roundRect">
            <a:avLst>
              <a:gd name="adj" fmla="val 18182"/>
            </a:avLst>
          </a:prstGeom>
          <a:solidFill>
            <a:schemeClr val="bg1"/>
          </a:solidFill>
          <a:ln w="15875">
            <a:solidFill>
              <a:srgbClr val="E4E4E7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 · виджет · чат · телефон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023360" y="187452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694944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Диалог: живая речь → намерение → уточнение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88720" y="269748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548640" y="2971800"/>
            <a:ext cx="12801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Гибридный поиск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06040" y="269748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1965960" y="2971800"/>
            <a:ext cx="12801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Матрица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визирования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023360" y="269748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3383280" y="2971800"/>
            <a:ext cx="12801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.docx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40680" y="269748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800600" y="2971800"/>
            <a:ext cx="12801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черновика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0" y="269748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217920" y="2971800"/>
            <a:ext cx="12801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Календарь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сроков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194560" y="3749040"/>
            <a:ext cx="914" cy="36576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852160" y="3749040"/>
            <a:ext cx="914" cy="36576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48640" y="4114800"/>
            <a:ext cx="329184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Данные: Chroma и редакции,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Матрица, модули, календарь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06240" y="4114800"/>
            <a:ext cx="3291840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25400">
            <a:solidFill>
              <a:srgbClr val="B84D00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Локальная модель (Ollama)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 1.5B · bge-m3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257800"/>
            <a:ext cx="292608" cy="29260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0120" y="52303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48640" y="5760720"/>
            <a:ext cx="292608" cy="292608"/>
          </a:xfrm>
          <a:prstGeom prst="rect">
            <a:avLst/>
          </a:prstGeom>
          <a:solidFill>
            <a:schemeClr val="bg1"/>
          </a:solidFill>
          <a:ln w="25400">
            <a:solidFill>
              <a:srgbClr val="B84D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0120" y="5733288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модель: объяснение с проверкой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863840" y="141732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4541" y="1538021"/>
            <a:ext cx="261518" cy="26151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549640" y="13807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Ollama, qwen2.5 1.5B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549640" y="1709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в контуре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863840" y="233172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4541" y="2452421"/>
            <a:ext cx="261518" cy="261518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8549640" y="22951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bge-m3 + BM25</a:t>
            </a:r>
            <a:endParaRPr lang="en-US" sz="1800" dirty="0"/>
          </a:p>
        </p:txBody>
      </p:sp>
      <p:sp>
        <p:nvSpPr>
          <p:cNvPr id="31" name="Text 27"/>
          <p:cNvSpPr txBox="1"/>
          <p:nvPr/>
        </p:nvSpPr>
        <p:spPr>
          <a:xfrm>
            <a:off x="8549640" y="2624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смысл и слова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7863840" y="324612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4541" y="3366821"/>
            <a:ext cx="261518" cy="261518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8549640" y="32095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8549640" y="3538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в запросе</a:t>
            </a:r>
            <a:endParaRPr lang="en-US" sz="1400" dirty="0"/>
          </a:p>
        </p:txBody>
      </p:sp>
      <p:sp>
        <p:nvSpPr>
          <p:cNvPr id="36" name="Shape 31"/>
          <p:cNvSpPr/>
          <p:nvPr/>
        </p:nvSpPr>
        <p:spPr>
          <a:xfrm>
            <a:off x="7863840" y="416052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4541" y="4281221"/>
            <a:ext cx="261518" cy="26151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549640" y="4123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pymorphy3</a:t>
            </a:r>
            <a:endParaRPr lang="en-US" sz="1800" dirty="0"/>
          </a:p>
        </p:txBody>
      </p:sp>
      <p:sp>
        <p:nvSpPr>
          <p:cNvPr id="39" name="Text 33"/>
          <p:cNvSpPr txBox="1"/>
          <p:nvPr/>
        </p:nvSpPr>
        <p:spPr>
          <a:xfrm>
            <a:off x="8549640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речь</a:t>
            </a:r>
            <a:endParaRPr lang="en-US" sz="1400" dirty="0"/>
          </a:p>
        </p:txBody>
      </p:sp>
      <p:sp>
        <p:nvSpPr>
          <p:cNvPr id="40" name="Shape 34"/>
          <p:cNvSpPr/>
          <p:nvPr/>
        </p:nvSpPr>
        <p:spPr>
          <a:xfrm>
            <a:off x="7863840" y="507492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4541" y="5195621"/>
            <a:ext cx="261518" cy="261518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8549640" y="50383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Chainlit + FastAPI</a:t>
            </a:r>
            <a:endParaRPr lang="en-US" sz="1800" dirty="0"/>
          </a:p>
        </p:txBody>
      </p:sp>
      <p:sp>
        <p:nvSpPr>
          <p:cNvPr id="43" name="Text 36"/>
          <p:cNvSpPr txBox="1"/>
          <p:nvPr/>
        </p:nvSpPr>
        <p:spPr>
          <a:xfrm>
            <a:off x="8549640" y="53675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 и API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Работает в закрытом контуре на сервере без GPU</a:t>
            </a:r>
            <a:endParaRPr lang="en-US" sz="3200" dirty="0"/>
          </a:p>
        </p:txBody>
      </p:sp>
      <p:sp>
        <p:nvSpPr>
          <p:cNvPr id="3" name="Закрытый сегмент"/>
          <p:cNvSpPr/>
          <p:nvPr/>
        </p:nvSpPr>
        <p:spPr>
          <a:xfrm>
            <a:off x="548640" y="1691640"/>
            <a:ext cx="5943600" cy="288036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rgbClr val="737373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709160" y="17647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Закрытый сегмент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интернета · план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075688" y="1188720"/>
            <a:ext cx="3108960" cy="411480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5875">
            <a:solidFill>
              <a:srgbClr val="B84D00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SSO: Keycloak / ADFS · план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30168" y="1600200"/>
            <a:ext cx="914" cy="7315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822960" y="2331720"/>
            <a:ext cx="160020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организации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423160" y="2761488"/>
            <a:ext cx="365760" cy="914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788920" y="233172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Помощник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Chainlit + FastAPI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2761488"/>
            <a:ext cx="320040" cy="914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800600" y="2331720"/>
            <a:ext cx="146304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5400">
            <a:solidFill>
              <a:srgbClr val="B84D00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модели локально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30168" y="3200400"/>
            <a:ext cx="914" cy="32004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920240" y="3520440"/>
            <a:ext cx="34290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Индекс, журналы, черновики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шифрование тома · план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840480" y="4846320"/>
            <a:ext cx="2651760" cy="411480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5875">
            <a:solidFill>
              <a:srgbClr val="B84D00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SIEM: аудит-лог · план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4297680"/>
            <a:ext cx="914" cy="54864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4818888"/>
            <a:ext cx="365760" cy="36576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" y="4906670"/>
            <a:ext cx="190195" cy="1901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05840" y="486460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— в запросе к индексу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5276088"/>
            <a:ext cx="365760" cy="36576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" y="5363870"/>
            <a:ext cx="190195" cy="1901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05840" y="532180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исходящих соединений нет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903720" y="1188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Ресурсы для локальных моделей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1691640"/>
          <a:ext cx="473659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47672"/>
                <a:gridCol w="1325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Конфигурация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Ресурсы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Ответ: среднее / p95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Проверено: демо-стенд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vCPU, 3,8 ГБ ОЗУ, без GPU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 с / 8,6 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Проверено: ноутбук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Apple M5 Pro, Metal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0,25 с / 0,75 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Рекомендуется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ядра, 8 ГБ ОЗУ или GPU / Apple Silicon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Модель 7B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ГБ ОЗУ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Модель 14B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 24 ГБ ОЗУ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 19"/>
          <p:cNvSpPr txBox="1"/>
          <p:nvPr/>
        </p:nvSpPr>
        <p:spPr>
          <a:xfrm>
            <a:off x="6903720" y="489204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Замеры: README, tests/eval_results.md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 на 99 вопросах и готово к росту</a:t>
            </a:r>
            <a:endParaRPr lang="en-US" sz="3200" dirty="0"/>
          </a:p>
        </p:txBody>
      </p:sp>
      <p:sp>
        <p:nvSpPr>
          <p:cNvPr id="3" name="Показатель"/>
          <p:cNvSpPr/>
          <p:nvPr/>
        </p:nvSpPr>
        <p:spPr>
          <a:xfrm>
            <a:off x="548640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53312"/>
            <a:ext cx="2110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40/40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ожидаемый пункт в источниках</a:t>
            </a:r>
            <a:endParaRPr lang="en-US" sz="1400" dirty="0"/>
          </a:p>
        </p:txBody>
      </p:sp>
      <p:sp>
        <p:nvSpPr>
          <p:cNvPr id="6" name="Показатель"/>
          <p:cNvSpPr/>
          <p:nvPr/>
        </p:nvSpPr>
        <p:spPr>
          <a:xfrm>
            <a:off x="3390824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19424" y="1353312"/>
            <a:ext cx="2110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9/9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619424" y="1938528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честный отказ вне базы</a:t>
            </a:r>
            <a:endParaRPr lang="en-US" sz="1400" dirty="0"/>
          </a:p>
        </p:txBody>
      </p:sp>
      <p:sp>
        <p:nvSpPr>
          <p:cNvPr id="9" name="Показатель"/>
          <p:cNvSpPr/>
          <p:nvPr/>
        </p:nvSpPr>
        <p:spPr>
          <a:xfrm>
            <a:off x="6233008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61608" y="1353312"/>
            <a:ext cx="2110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1938528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утечек закрытых пунктов</a:t>
            </a:r>
            <a:endParaRPr lang="en-US" sz="1400" dirty="0"/>
          </a:p>
        </p:txBody>
      </p:sp>
      <p:sp>
        <p:nvSpPr>
          <p:cNvPr id="12" name="Показатель"/>
          <p:cNvSpPr/>
          <p:nvPr/>
        </p:nvSpPr>
        <p:spPr>
          <a:xfrm>
            <a:off x="9075191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303791" y="1353312"/>
            <a:ext cx="2110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48/48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303791" y="1938528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разговорные вопросы и диалоги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5420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tests/run_eval.py, 99 вопросов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971800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3081528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143000" y="3017520"/>
            <a:ext cx="2920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Обновление базы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3520440"/>
            <a:ext cx="342381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Редакция → архив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Дифф пунктов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 без кода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338218" y="2971800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7946" y="3081528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932578" y="3017520"/>
            <a:ext cx="2920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4383938" y="3520440"/>
            <a:ext cx="342381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Виджет — одна строка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— одна строка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Модуль — YAML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8127797" y="2971800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525" y="3081528"/>
            <a:ext cx="237744" cy="23774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722157" y="3017520"/>
            <a:ext cx="2920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Отличия</a:t>
            </a:r>
            <a:endParaRPr lang="en-US" sz="2000" dirty="0"/>
          </a:p>
        </p:txBody>
      </p:sp>
      <p:sp>
        <p:nvSpPr>
          <p:cNvPr id="27" name="Text 22"/>
          <p:cNvSpPr txBox="1"/>
          <p:nvPr/>
        </p:nvSpPr>
        <p:spPr>
          <a:xfrm>
            <a:off x="8173517" y="3520440"/>
            <a:ext cx="342381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Ссылки — кодом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проверяется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речь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Офлайн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5074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Дальше: SSO, SIEM, ИИС ДО</a:t>
            </a:r>
            <a:endParaRPr lang="en-US" sz="1800" dirty="0"/>
          </a:p>
        </p:txBody>
      </p:sp>
      <p:sp>
        <p:nvSpPr>
          <p:cNvPr id="29" name="Спасибо"/>
          <p:cNvSpPr/>
          <p:nvPr/>
        </p:nvSpPr>
        <p:spPr>
          <a:xfrm>
            <a:off x="548640" y="5577840"/>
            <a:ext cx="10180015" cy="777240"/>
          </a:xfrm>
          <a:prstGeom prst="roundRect">
            <a:avLst>
              <a:gd name="adj" fmla="val 16471"/>
            </a:avLst>
          </a:prstGeom>
          <a:solidFill>
            <a:schemeClr val="tx2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22960" y="56692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</a:t>
            </a:r>
            <a:endParaRPr lang="en-US" sz="2800" dirty="0"/>
          </a:p>
        </p:txBody>
      </p:sp>
      <p:sp>
        <p:nvSpPr>
          <p:cNvPr id="31" name="Text 26"/>
          <p:cNvSpPr txBox="1"/>
          <p:nvPr/>
        </p:nvSpPr>
        <p:spPr>
          <a:xfrm>
            <a:off x="2926080" y="566928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1A1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github.com/LomashAD/hackathon2026dgtu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217-144-184-227.sslip.io</a:t>
            </a:r>
            <a:endParaRPr lang="en-US" sz="1600" dirty="0"/>
          </a:p>
        </p:txBody>
      </p:sp>
      <p:pic>
        <p:nvPicPr>
          <p:cNvPr id="32" name="Image 3" descr="QR-код: https://217-144-184-227.sslip.i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4375" y="5440680"/>
            <a:ext cx="868680" cy="868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phite DOU">
  <a:themeElements>
    <a:clrScheme name="Graphite DOU">
      <a:dk1>
        <a:srgbClr val="0A0A0A"/>
      </a:dk1>
      <a:lt1>
        <a:srgbClr val="FFFFFF"/>
      </a:lt1>
      <a:dk2>
        <a:srgbClr val="171717"/>
      </a:dk2>
      <a:lt2>
        <a:srgbClr val="F4F4F5"/>
      </a:lt2>
      <a:accent1>
        <a:srgbClr val="B84D00"/>
      </a:accent1>
      <a:accent2>
        <a:srgbClr val="FF8833"/>
      </a:accent2>
      <a:accent3>
        <a:srgbClr val="262626"/>
      </a:accent3>
      <a:accent4>
        <a:srgbClr val="737373"/>
      </a:accent4>
      <a:accent5>
        <a:srgbClr val="E4E4E7"/>
      </a:accent5>
      <a:accent6>
        <a:srgbClr val="5C5C5C"/>
      </a:accent6>
      <a:hlink>
        <a:srgbClr val="B84D00"/>
      </a:hlink>
      <a:folHlink>
        <a:srgbClr val="737373"/>
      </a:folHlink>
    </a:clrScheme>
    <a:fontScheme name="Graphite DOU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Помощник по документообороту — защита проекта</dc:title>
  <dc:subject>PptxGenJS Presentation</dc:subject>
  <dc:creator>Команда «Опасные, но домашние»</dc:creator>
  <cp:lastModifiedBy>Команда проекта</cp:lastModifiedBy>
  <cp:revision>1</cp:revision>
  <dcterms:created xsi:type="dcterms:W3CDTF">2026-10-24T18:27:19Z</dcterms:created>
  <dcterms:modified xsi:type="dcterms:W3CDTF">2026-10-24T18:27:19Z</dcterms:modified>
</cp:coreProperties>
</file>