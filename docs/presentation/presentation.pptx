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сновная часть" id="{bfc5d455-97a0-4fe1-bcf2-3efdf24d850e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Резерв" id="{4f516de1-1908-a0e0-4561-4dfcdb661fbb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0:00–0:15 (15 с). Мы — [команда], я [имя]. Наш помощник по документообороту: сотрудник пишет задачу своими словами, помощник находит пункт Инструкции с процентом релевантности, объясняет простыми словами и помогает сделать документ. Всё работает локально. Сразу покажу вживую — переключаемся на слайд с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0:15–0:25 (10 с). Помощник доступен по этому QR-коду — можно открыть с телефона прямо сейчас. Справа — вопросы, которые можно задать как в мессенджере, с опечатками. Переключаюсь в браузер: показываю на этом же стенде.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0:25–2:30 (2 мин 05 с) — живая демонстрация, слайд остаётся как подсказка порядка. 1) «скока дней на согласавание приказа» — опечатка исправлена, 10 рабочих дней по п. 10.3 (20 с). 2) «какая зарплата у главного специалиста?» — честный отказ и куда обратиться (15 с). 3) «сколько дней на согласование?» → кнопка «распоряжение» → «а для приказа?» (25 с). 4) «нужно подготовить распоряжение о создании рабочей группы» — модуль, согласующие, первый вопрос; затем заранее пройденная вкладка: отказ на «15 декабря» и готовый .docx (45 с). 5) «если отправлю распоряжение на согласавание сегодня когда будет готово?» — дата по календарю; при запасе времени — телефон с меню (20 с). Если стенд завис — скриншоты в docs/presentation/images и видео из релиза.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2:30–2:40 (10 с). Модель маленькая, поэтому всё, что можно посчитать, делает код: поиск, ссылки, согласующих по Матрице, сроки по календарю, шаблоны и проверку черновика. Модель только объясняет найденный пункт, и её текст проверяется. Всё open source и локально.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2:40–2:50 (10 с). Для контура: всё на одной машине, модели локально, исходящих соединений нет — проверено на стенде. Стенд — 2 vCPU без GPU: в среднем 3,2 с на ответ. Для промышленного контура предлагаем SSO, SIEM и шифрование тома — это план, не сделано.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2:50–3:00 (10 с). Итог: 40 из 40 нужных пунктов найдено, 9 из 9 честных отказов, утечек нет, живую речь понимает во всех 48 проверочных диалогах. Новая редакция или документ подключаются без правки кода, виджет — одной строкой. Спасибо! Готовы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240280"/>
            <a:ext cx="6035040" cy="1417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Название</a:t>
            </a:r>
            <a:endParaRPr lang="en-US" sz="4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Заголовок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ERV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Заголовок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0405872" y="566928"/>
            <a:ext cx="12344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Знак помощни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86868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7830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1A1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Хакатон «Финтех Хаб» · кейс Банка России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2402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Помощник по документообороту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7490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Найти → понять → сделать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3434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1A1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пункт Инструкции · простыми словами · черновик .docx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9834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[Название команды]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54406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1A1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[Участники и роли]</a:t>
            </a:r>
            <a:endParaRPr lang="en-US" sz="1800" dirty="0"/>
          </a:p>
        </p:txBody>
      </p:sp>
      <p:pic>
        <p:nvPicPr>
          <p:cNvPr id="9" name="Image 1" descr="Портал с виджетом помощни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600200"/>
            <a:ext cx="4553712" cy="3252651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pic>
      <p:sp>
        <p:nvSpPr>
          <p:cNvPr id="10" name="Shape 6"/>
          <p:cNvSpPr/>
          <p:nvPr/>
        </p:nvSpPr>
        <p:spPr>
          <a:xfrm>
            <a:off x="7086600" y="1600200"/>
            <a:ext cx="4553712" cy="3252651"/>
          </a:xfrm>
          <a:prstGeom prst="roundRect">
            <a:avLst>
              <a:gd name="adj" fmla="val 3373"/>
            </a:avLst>
          </a:prstGeom>
          <a:ln w="12700">
            <a:solidFill>
              <a:srgbClr val="262626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Попробуйте сами: откройте помощника с телефона</a:t>
            </a:r>
            <a:endParaRPr lang="en-US" sz="3200" dirty="0"/>
          </a:p>
        </p:txBody>
      </p:sp>
      <p:sp>
        <p:nvSpPr>
          <p:cNvPr id="3" name="QR-карточка"/>
          <p:cNvSpPr/>
          <p:nvPr/>
        </p:nvSpPr>
        <p:spPr>
          <a:xfrm>
            <a:off x="548640" y="1371600"/>
            <a:ext cx="3749040" cy="4526280"/>
          </a:xfrm>
          <a:prstGeom prst="roundRect">
            <a:avLst>
              <a:gd name="adj" fmla="val 3415"/>
            </a:avLst>
          </a:prstGeom>
          <a:solidFill>
            <a:schemeClr val="bg1"/>
          </a:solidFill>
          <a:ln w="12700">
            <a:solidFill>
              <a:srgbClr val="E4E4E7"/>
            </a:solidFill>
            <a:prstDash val="solid"/>
          </a:ln>
        </p:spPr>
      </p:sp>
      <p:pic>
        <p:nvPicPr>
          <p:cNvPr id="4" name="Image 0" descr="QR-код: https://217-144-184-227.sslip.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00200"/>
            <a:ext cx="3108960" cy="3108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920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217-144-184-227.sslip.io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4754880" y="1371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Спросите своими словами</a:t>
            </a:r>
            <a:endParaRPr lang="en-US" sz="2000" dirty="0"/>
          </a:p>
        </p:txBody>
      </p:sp>
      <p:sp>
        <p:nvSpPr>
          <p:cNvPr id="7" name="Пример вопроса"/>
          <p:cNvSpPr/>
          <p:nvPr/>
        </p:nvSpPr>
        <p:spPr>
          <a:xfrm>
            <a:off x="4754880" y="1965960"/>
            <a:ext cx="4663440" cy="1014984"/>
          </a:xfrm>
          <a:prstGeom prst="roundRect">
            <a:avLst>
              <a:gd name="adj" fmla="val 12613"/>
            </a:avLst>
          </a:prstGeom>
          <a:solidFill>
            <a:schemeClr val="bg2"/>
          </a:solidFill>
          <a:ln/>
        </p:spPr>
      </p:sp>
      <p:sp>
        <p:nvSpPr>
          <p:cNvPr id="8" name="Shape 5"/>
          <p:cNvSpPr/>
          <p:nvPr/>
        </p:nvSpPr>
        <p:spPr>
          <a:xfrm>
            <a:off x="4919472" y="2244852"/>
            <a:ext cx="457200" cy="4572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354580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532120" y="2148840"/>
            <a:ext cx="37490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«скока дней на согласавание приказа»</a:t>
            </a:r>
            <a:endParaRPr lang="en-US" sz="1800" dirty="0"/>
          </a:p>
        </p:txBody>
      </p:sp>
      <p:sp>
        <p:nvSpPr>
          <p:cNvPr id="11" name="Пример вопроса"/>
          <p:cNvSpPr/>
          <p:nvPr/>
        </p:nvSpPr>
        <p:spPr>
          <a:xfrm>
            <a:off x="4754880" y="3255264"/>
            <a:ext cx="4663440" cy="1316736"/>
          </a:xfrm>
          <a:prstGeom prst="roundRect">
            <a:avLst>
              <a:gd name="adj" fmla="val 9722"/>
            </a:avLst>
          </a:prstGeom>
          <a:solidFill>
            <a:schemeClr val="bg2"/>
          </a:solidFill>
          <a:ln/>
        </p:spPr>
      </p:sp>
      <p:sp>
        <p:nvSpPr>
          <p:cNvPr id="12" name="Shape 8"/>
          <p:cNvSpPr/>
          <p:nvPr/>
        </p:nvSpPr>
        <p:spPr>
          <a:xfrm>
            <a:off x="4919472" y="3685032"/>
            <a:ext cx="457200" cy="4572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3794760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532120" y="3438144"/>
            <a:ext cx="3749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«если отправлю распоряжение на согласавание сегодня когда будет готово?»</a:t>
            </a:r>
            <a:endParaRPr lang="en-US" sz="1800" dirty="0"/>
          </a:p>
        </p:txBody>
      </p:sp>
      <p:pic>
        <p:nvPicPr>
          <p:cNvPr id="15" name="Image 3" descr="Окно помощника на портале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1371600"/>
            <a:ext cx="1947672" cy="2596896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pic>
      <p:sp>
        <p:nvSpPr>
          <p:cNvPr id="16" name="Shape 10"/>
          <p:cNvSpPr/>
          <p:nvPr/>
        </p:nvSpPr>
        <p:spPr>
          <a:xfrm>
            <a:off x="9692640" y="1371600"/>
            <a:ext cx="1947672" cy="2596896"/>
          </a:xfrm>
          <a:prstGeom prst="roundRect">
            <a:avLst>
              <a:gd name="adj" fmla="val 5634"/>
            </a:avLst>
          </a:prstGeom>
          <a:ln w="12700">
            <a:solidFill>
              <a:srgbClr val="262626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54880" y="5120640"/>
            <a:ext cx="457200" cy="4572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5230368"/>
            <a:ext cx="237744" cy="23774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49240" y="5120640"/>
            <a:ext cx="6291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 по учётной записи: данные для жюри [заполнить]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Вживую: пять сценариев от вопроса до документа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1616659"/>
            <a:ext cx="332842" cy="3328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57276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«скока дней на согласавание…»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48640" y="2395728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" y="2549347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2505456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Нет в базе — честный отказ</a:t>
            </a:r>
            <a:endParaRPr lang="en-US" sz="2000" dirty="0"/>
          </a:p>
        </p:txBody>
      </p:sp>
      <p:sp>
        <p:nvSpPr>
          <p:cNvPr id="9" name="Shape 5"/>
          <p:cNvSpPr/>
          <p:nvPr/>
        </p:nvSpPr>
        <p:spPr>
          <a:xfrm>
            <a:off x="548640" y="3328416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3482035"/>
            <a:ext cx="332842" cy="33284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3438144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Уточнение и «а для приказа?»</a:t>
            </a:r>
            <a:endParaRPr lang="en-US" sz="2000" dirty="0"/>
          </a:p>
        </p:txBody>
      </p:sp>
      <p:sp>
        <p:nvSpPr>
          <p:cNvPr id="12" name="Shape 7"/>
          <p:cNvSpPr/>
          <p:nvPr/>
        </p:nvSpPr>
        <p:spPr>
          <a:xfrm>
            <a:off x="548640" y="4261104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" y="4414723"/>
            <a:ext cx="332842" cy="33284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417320" y="437083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Модуль → вопросы → .docx</a:t>
            </a:r>
            <a:endParaRPr lang="en-US" sz="2000" dirty="0"/>
          </a:p>
        </p:txBody>
      </p:sp>
      <p:sp>
        <p:nvSpPr>
          <p:cNvPr id="15" name="Shape 9"/>
          <p:cNvSpPr/>
          <p:nvPr/>
        </p:nvSpPr>
        <p:spPr>
          <a:xfrm>
            <a:off x="548640" y="5193792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259" y="5347411"/>
            <a:ext cx="332842" cy="332842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417320" y="53035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Черновик, срок датой, телефон</a:t>
            </a:r>
            <a:endParaRPr lang="en-US" sz="2000" dirty="0"/>
          </a:p>
        </p:txBody>
      </p:sp>
      <p:pic>
        <p:nvPicPr>
          <p:cNvPr id="18" name="Image 5" descr="Ответ помощника: исправлена опечатка, пункт 5.6, релевантность 100 %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3992" y="1325880"/>
            <a:ext cx="4846320" cy="4633193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pic>
      <p:sp>
        <p:nvSpPr>
          <p:cNvPr id="19" name="Shape 11"/>
          <p:cNvSpPr/>
          <p:nvPr/>
        </p:nvSpPr>
        <p:spPr>
          <a:xfrm>
            <a:off x="6793992" y="1325880"/>
            <a:ext cx="4846320" cy="4633193"/>
          </a:xfrm>
          <a:prstGeom prst="roundRect">
            <a:avLst>
              <a:gd name="adj" fmla="val 2368"/>
            </a:avLst>
          </a:prstGeom>
          <a:ln w="12700">
            <a:solidFill>
              <a:srgbClr val="262626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6793992" y="6050513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Реальный ответ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Ищет и считает код, модель только объясняет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828800" y="1371600"/>
            <a:ext cx="4389120" cy="502920"/>
          </a:xfrm>
          <a:prstGeom prst="roundRect">
            <a:avLst>
              <a:gd name="adj" fmla="val 18182"/>
            </a:avLst>
          </a:prstGeom>
          <a:solidFill>
            <a:schemeClr val="bg1"/>
          </a:solidFill>
          <a:ln w="15875">
            <a:solidFill>
              <a:srgbClr val="E4E4E7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Портал · виджет · чат · телефон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023360" y="1874520"/>
            <a:ext cx="914" cy="27432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5" name="Text 3"/>
          <p:cNvSpPr/>
          <p:nvPr/>
        </p:nvSpPr>
        <p:spPr>
          <a:xfrm>
            <a:off x="548640" y="2148840"/>
            <a:ext cx="694944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Диалог: живая речь → намерение → уточнение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188720" y="2697480"/>
            <a:ext cx="914" cy="27432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548640" y="2971800"/>
            <a:ext cx="128016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Гибридный поиск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606040" y="2697480"/>
            <a:ext cx="914" cy="27432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1965960" y="2971800"/>
            <a:ext cx="128016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Матрица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визирования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023360" y="2697480"/>
            <a:ext cx="914" cy="27432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3383280" y="2971800"/>
            <a:ext cx="128016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Модули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.docx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40680" y="2697480"/>
            <a:ext cx="914" cy="27432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4800600" y="2971800"/>
            <a:ext cx="128016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черновика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0" y="2697480"/>
            <a:ext cx="914" cy="27432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6217920" y="2971800"/>
            <a:ext cx="128016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Календарь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сроков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194560" y="3749040"/>
            <a:ext cx="914" cy="36576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852160" y="3749040"/>
            <a:ext cx="914" cy="36576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48640" y="4114800"/>
            <a:ext cx="329184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Данные: Chroma и редакции,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Матрица, модули, календарь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06240" y="4114800"/>
            <a:ext cx="3291840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25400">
            <a:solidFill>
              <a:srgbClr val="B84D00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Локальная модель (Ollama)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qwen2.5 1.5B · bge-m3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257800"/>
            <a:ext cx="292608" cy="29260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0120" y="52303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код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48640" y="5760720"/>
            <a:ext cx="292608" cy="292608"/>
          </a:xfrm>
          <a:prstGeom prst="rect">
            <a:avLst/>
          </a:prstGeom>
          <a:solidFill>
            <a:schemeClr val="bg1"/>
          </a:solidFill>
          <a:ln w="25400">
            <a:solidFill>
              <a:srgbClr val="B84D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60120" y="5733288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модель: объяснение с проверкой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863840" y="141732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4541" y="1538021"/>
            <a:ext cx="261518" cy="261518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8549640" y="13807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Ollama, qwen2.5 1.5B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549640" y="1709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в контуре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863840" y="233172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4541" y="2452421"/>
            <a:ext cx="261518" cy="261518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8549640" y="22951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bge-m3 + BM25</a:t>
            </a:r>
            <a:endParaRPr lang="en-US" sz="1800" dirty="0"/>
          </a:p>
        </p:txBody>
      </p:sp>
      <p:sp>
        <p:nvSpPr>
          <p:cNvPr id="31" name="Text 27"/>
          <p:cNvSpPr txBox="1"/>
          <p:nvPr/>
        </p:nvSpPr>
        <p:spPr>
          <a:xfrm>
            <a:off x="8549640" y="26243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смысл и слова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7863840" y="324612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4541" y="3366821"/>
            <a:ext cx="261518" cy="261518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8549640" y="32095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</a:t>
            </a:r>
            <a:endParaRPr lang="en-US" sz="1800" dirty="0"/>
          </a:p>
        </p:txBody>
      </p:sp>
      <p:sp>
        <p:nvSpPr>
          <p:cNvPr id="35" name="Text 30"/>
          <p:cNvSpPr txBox="1"/>
          <p:nvPr/>
        </p:nvSpPr>
        <p:spPr>
          <a:xfrm>
            <a:off x="8549640" y="3538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 в запросе</a:t>
            </a:r>
            <a:endParaRPr lang="en-US" sz="1400" dirty="0"/>
          </a:p>
        </p:txBody>
      </p:sp>
      <p:sp>
        <p:nvSpPr>
          <p:cNvPr id="36" name="Shape 31"/>
          <p:cNvSpPr/>
          <p:nvPr/>
        </p:nvSpPr>
        <p:spPr>
          <a:xfrm>
            <a:off x="7863840" y="416052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4541" y="4281221"/>
            <a:ext cx="261518" cy="261518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8549640" y="4123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pymorphy3</a:t>
            </a:r>
            <a:endParaRPr lang="en-US" sz="1800" dirty="0"/>
          </a:p>
        </p:txBody>
      </p:sp>
      <p:sp>
        <p:nvSpPr>
          <p:cNvPr id="39" name="Text 33"/>
          <p:cNvSpPr txBox="1"/>
          <p:nvPr/>
        </p:nvSpPr>
        <p:spPr>
          <a:xfrm>
            <a:off x="8549640" y="4453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живая речь</a:t>
            </a:r>
            <a:endParaRPr lang="en-US" sz="1400" dirty="0"/>
          </a:p>
        </p:txBody>
      </p:sp>
      <p:sp>
        <p:nvSpPr>
          <p:cNvPr id="40" name="Shape 34"/>
          <p:cNvSpPr/>
          <p:nvPr/>
        </p:nvSpPr>
        <p:spPr>
          <a:xfrm>
            <a:off x="7863840" y="507492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4541" y="5195621"/>
            <a:ext cx="261518" cy="261518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8549640" y="50383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Chainlit + FastAPI</a:t>
            </a:r>
            <a:endParaRPr lang="en-US" sz="1800" dirty="0"/>
          </a:p>
        </p:txBody>
      </p:sp>
      <p:sp>
        <p:nvSpPr>
          <p:cNvPr id="43" name="Text 36"/>
          <p:cNvSpPr txBox="1"/>
          <p:nvPr/>
        </p:nvSpPr>
        <p:spPr>
          <a:xfrm>
            <a:off x="8549640" y="53675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 и API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Работает в закрытом контуре на сервере без GPU</a:t>
            </a:r>
            <a:endParaRPr lang="en-US" sz="3200" dirty="0"/>
          </a:p>
        </p:txBody>
      </p:sp>
      <p:sp>
        <p:nvSpPr>
          <p:cNvPr id="3" name="Закрытый сегмент"/>
          <p:cNvSpPr/>
          <p:nvPr/>
        </p:nvSpPr>
        <p:spPr>
          <a:xfrm>
            <a:off x="548640" y="1691640"/>
            <a:ext cx="5943600" cy="288036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2700">
            <a:solidFill>
              <a:srgbClr val="737373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709160" y="176479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Закрытый сегмент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интернета · план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075688" y="1188720"/>
            <a:ext cx="3108960" cy="411480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5875">
            <a:solidFill>
              <a:srgbClr val="B84D00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SSO: Keycloak / ADFS · план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30168" y="1600200"/>
            <a:ext cx="914" cy="73152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822960" y="2331720"/>
            <a:ext cx="1600200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Портал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организации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423160" y="2761488"/>
            <a:ext cx="365760" cy="914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2788920" y="2331720"/>
            <a:ext cx="169164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Помощник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Chainlit + FastAPI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2761488"/>
            <a:ext cx="320040" cy="914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4800600" y="2331720"/>
            <a:ext cx="146304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5400">
            <a:solidFill>
              <a:srgbClr val="B84D00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модели локально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30168" y="3200400"/>
            <a:ext cx="914" cy="32004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1920240" y="3520440"/>
            <a:ext cx="34290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Индекс, журналы, черновики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шифрование тома · план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840480" y="4846320"/>
            <a:ext cx="2651760" cy="411480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5875">
            <a:solidFill>
              <a:srgbClr val="B84D00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SIEM: аудит-лог · план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54880" y="4297680"/>
            <a:ext cx="914" cy="54864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4818888"/>
            <a:ext cx="365760" cy="36576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" y="4906670"/>
            <a:ext cx="190195" cy="19019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005840" y="486460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 — в запросе к индексу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48640" y="5276088"/>
            <a:ext cx="365760" cy="36576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" y="5363870"/>
            <a:ext cx="190195" cy="1901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05840" y="532180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исходящих соединений нет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903720" y="1188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Ресурсы для локальных моделей</a:t>
            </a:r>
            <a:endParaRPr lang="en-US" sz="2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1691640"/>
          <a:ext cx="473659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947672"/>
                <a:gridCol w="13258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Конфигурация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Ресурсы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Ответ: среднее / p95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Проверено: демо-стенд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vCPU, 3,8 ГБ ОЗУ, без GPU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 с / 8,6 с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Проверено: ноутбук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Apple M5 Pro, Metal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0,25 с / 0,75 с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Рекомендуется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ядра, 8 ГБ ОЗУ или GPU / Apple Silicon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Модель 7B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ГБ ОЗУ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Модель 14B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 24 ГБ ОЗУ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 19"/>
          <p:cNvSpPr txBox="1"/>
          <p:nvPr/>
        </p:nvSpPr>
        <p:spPr>
          <a:xfrm>
            <a:off x="6903720" y="489204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Замеры: README, tests/eval_results.md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 на 99 вопросах и готово к росту</a:t>
            </a:r>
            <a:endParaRPr lang="en-US" sz="3200" dirty="0"/>
          </a:p>
        </p:txBody>
      </p:sp>
      <p:sp>
        <p:nvSpPr>
          <p:cNvPr id="3" name="Показатель"/>
          <p:cNvSpPr/>
          <p:nvPr/>
        </p:nvSpPr>
        <p:spPr>
          <a:xfrm>
            <a:off x="548640" y="1280160"/>
            <a:ext cx="2567864" cy="1188720"/>
          </a:xfrm>
          <a:prstGeom prst="roundRect">
            <a:avLst>
              <a:gd name="adj" fmla="val 10769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353312"/>
            <a:ext cx="2110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40/40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38528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ожидаемый пункт в источниках</a:t>
            </a:r>
            <a:endParaRPr lang="en-US" sz="1400" dirty="0"/>
          </a:p>
        </p:txBody>
      </p:sp>
      <p:sp>
        <p:nvSpPr>
          <p:cNvPr id="6" name="Показатель"/>
          <p:cNvSpPr/>
          <p:nvPr/>
        </p:nvSpPr>
        <p:spPr>
          <a:xfrm>
            <a:off x="3390824" y="1280160"/>
            <a:ext cx="2567864" cy="1188720"/>
          </a:xfrm>
          <a:prstGeom prst="roundRect">
            <a:avLst>
              <a:gd name="adj" fmla="val 10769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19424" y="1353312"/>
            <a:ext cx="2110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9/9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619424" y="1938528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честный отказ вне базы</a:t>
            </a:r>
            <a:endParaRPr lang="en-US" sz="1400" dirty="0"/>
          </a:p>
        </p:txBody>
      </p:sp>
      <p:sp>
        <p:nvSpPr>
          <p:cNvPr id="9" name="Показатель"/>
          <p:cNvSpPr/>
          <p:nvPr/>
        </p:nvSpPr>
        <p:spPr>
          <a:xfrm>
            <a:off x="6233008" y="1280160"/>
            <a:ext cx="2567864" cy="1188720"/>
          </a:xfrm>
          <a:prstGeom prst="roundRect">
            <a:avLst>
              <a:gd name="adj" fmla="val 10769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61608" y="1353312"/>
            <a:ext cx="2110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1938528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утечек закрытых пунктов</a:t>
            </a:r>
            <a:endParaRPr lang="en-US" sz="1400" dirty="0"/>
          </a:p>
        </p:txBody>
      </p:sp>
      <p:sp>
        <p:nvSpPr>
          <p:cNvPr id="12" name="Показатель"/>
          <p:cNvSpPr/>
          <p:nvPr/>
        </p:nvSpPr>
        <p:spPr>
          <a:xfrm>
            <a:off x="9075191" y="1280160"/>
            <a:ext cx="2567864" cy="1188720"/>
          </a:xfrm>
          <a:prstGeom prst="roundRect">
            <a:avLst>
              <a:gd name="adj" fmla="val 10769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303791" y="1353312"/>
            <a:ext cx="2110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48/48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9303791" y="1938528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разговорные вопросы и диалоги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54203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tests/run_eval.py, 99 вопросов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2971800"/>
            <a:ext cx="457200" cy="4572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3081528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143000" y="3017520"/>
            <a:ext cx="29208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Обновление базы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3520440"/>
            <a:ext cx="342381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Редакция → архив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Дифф пунктов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 без кода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4338218" y="2971800"/>
            <a:ext cx="457200" cy="4572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7946" y="3081528"/>
            <a:ext cx="237744" cy="23774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932578" y="3017520"/>
            <a:ext cx="29208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Масштабирование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4383938" y="3520440"/>
            <a:ext cx="342381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Виджет — одна строка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— одна строка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Модуль — YAML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8127797" y="2971800"/>
            <a:ext cx="457200" cy="4572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7525" y="3081528"/>
            <a:ext cx="237744" cy="237744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722157" y="3017520"/>
            <a:ext cx="29208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Отличия</a:t>
            </a:r>
            <a:endParaRPr lang="en-US" sz="2000" dirty="0"/>
          </a:p>
        </p:txBody>
      </p:sp>
      <p:sp>
        <p:nvSpPr>
          <p:cNvPr id="27" name="Text 22"/>
          <p:cNvSpPr txBox="1"/>
          <p:nvPr/>
        </p:nvSpPr>
        <p:spPr>
          <a:xfrm>
            <a:off x="8173517" y="3520440"/>
            <a:ext cx="342381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Ссылки — кодом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проверяется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Живая речь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Офлайн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548640" y="50749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Дальше: SSO, SIEM, ИИС ДО</a:t>
            </a:r>
            <a:endParaRPr lang="en-US" sz="1800" dirty="0"/>
          </a:p>
        </p:txBody>
      </p:sp>
      <p:sp>
        <p:nvSpPr>
          <p:cNvPr id="29" name="Спасибо"/>
          <p:cNvSpPr/>
          <p:nvPr/>
        </p:nvSpPr>
        <p:spPr>
          <a:xfrm>
            <a:off x="548640" y="5577840"/>
            <a:ext cx="10180015" cy="777240"/>
          </a:xfrm>
          <a:prstGeom prst="roundRect">
            <a:avLst>
              <a:gd name="adj" fmla="val 16471"/>
            </a:avLst>
          </a:prstGeom>
          <a:solidFill>
            <a:schemeClr val="tx2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822960" y="56692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</a:t>
            </a:r>
            <a:endParaRPr lang="en-US" sz="2800" dirty="0"/>
          </a:p>
        </p:txBody>
      </p:sp>
      <p:sp>
        <p:nvSpPr>
          <p:cNvPr id="31" name="Text 26"/>
          <p:cNvSpPr txBox="1"/>
          <p:nvPr/>
        </p:nvSpPr>
        <p:spPr>
          <a:xfrm>
            <a:off x="2926080" y="5669280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1A1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github.com/LomashAD/hackathon2026dgtu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A1A1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217-144-184-227.sslip.io</a:t>
            </a:r>
            <a:endParaRPr lang="en-US" sz="1600" dirty="0"/>
          </a:p>
        </p:txBody>
      </p:sp>
      <p:pic>
        <p:nvPicPr>
          <p:cNvPr id="32" name="Image 3" descr="QR-код: https://217-144-184-227.sslip.i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74375" y="5440680"/>
            <a:ext cx="868680" cy="868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Архитектура: один сервис, всё локально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0405872" y="56692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 · B1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Браузер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228600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 /?chat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304288"/>
            <a:ext cx="228600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Портал и виджет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871216"/>
            <a:ext cx="228600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Портал организации: widget.js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438144"/>
            <a:ext cx="228600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 /login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4005072"/>
            <a:ext cx="228600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Телефон: меню «бургер»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1280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Сервис app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246120" y="1737360"/>
            <a:ext cx="2926080" cy="438912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Chainlit: чат, источники, .docx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46120" y="2286000"/>
            <a:ext cx="2926080" cy="438912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FastAPI: /api/ask, /api/kb/*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46120" y="2834640"/>
            <a:ext cx="2926080" cy="438912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админ-панели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46120" y="3383280"/>
            <a:ext cx="2926080" cy="438912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Движок диалога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246120" y="3931920"/>
            <a:ext cx="2926080" cy="438912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Живая речь · намерения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46120" y="4480560"/>
            <a:ext cx="2926080" cy="438912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 · Матрица · сроки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246120" y="5029200"/>
            <a:ext cx="2926080" cy="438912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Шаблоны · проверка черновика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246120" y="5577840"/>
            <a:ext cx="2926080" cy="438912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ответа · доступ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834640" y="1965960"/>
            <a:ext cx="411480" cy="914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834640" y="2532888"/>
            <a:ext cx="411480" cy="914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2834640" y="3099816"/>
            <a:ext cx="411480" cy="914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583680" y="1280160"/>
            <a:ext cx="5056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Хранилище storage/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583680" y="1737360"/>
            <a:ext cx="237744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Chroma: чанки + метаданные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262872" y="1737360"/>
            <a:ext cx="237744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registry.json: редакции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583680" y="2304288"/>
            <a:ext cx="237744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matrix.json: Матрица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262872" y="2304288"/>
            <a:ext cx="237744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logs: аудит, без ответа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83680" y="2871216"/>
            <a:ext cx="237744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users.json: хеши паролей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262872" y="2871216"/>
            <a:ext cx="2377440" cy="45720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news.yaml: новости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172200" y="1965960"/>
            <a:ext cx="411480" cy="914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583680" y="3566160"/>
            <a:ext cx="5056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 (локально)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583680" y="4023360"/>
            <a:ext cx="2377440" cy="45720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5875">
            <a:solidFill>
              <a:srgbClr val="B84D00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qwen2.5:1.5b-instruct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262872" y="4023360"/>
            <a:ext cx="2377440" cy="45720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5875">
            <a:solidFill>
              <a:srgbClr val="B84D00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bge-m3: эмбеддинги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172200" y="4251960"/>
            <a:ext cx="411480" cy="914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583680" y="4846320"/>
            <a:ext cx="5056632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E4E4E7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data/ + config.yaml → ingest: разбор → чанк = пункт → эмбеддинги → редакции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0" y="5577840"/>
            <a:ext cx="5056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Фильтр доступа — условие where в Chroma: уровень роли и status = active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за шесть шагов: пять из них — код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0405872" y="56692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 · B2</a:t>
            </a:r>
            <a:endParaRPr lang="en-US" sz="1400" dirty="0"/>
          </a:p>
        </p:txBody>
      </p:sp>
      <p:sp>
        <p:nvSpPr>
          <p:cNvPr id="4" name="Живая речь"/>
          <p:cNvSpPr/>
          <p:nvPr/>
        </p:nvSpPr>
        <p:spPr>
          <a:xfrm>
            <a:off x="548640" y="1417320"/>
            <a:ext cx="3484778" cy="2011680"/>
          </a:xfrm>
          <a:prstGeom prst="roundRect">
            <a:avLst>
              <a:gd name="adj" fmla="val 6364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691640"/>
            <a:ext cx="594360" cy="59436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83428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347618" y="16459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23160"/>
            <a:ext cx="2936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Живая речь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807208"/>
            <a:ext cx="2936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опечатки, раскладка, сленг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069994" y="2423160"/>
            <a:ext cx="246888" cy="914"/>
          </a:xfrm>
          <a:prstGeom prst="line">
            <a:avLst/>
          </a:prstGeom>
          <a:noFill/>
          <a:ln w="19050">
            <a:solidFill>
              <a:srgbClr val="B84D00"/>
            </a:solidFill>
            <a:prstDash val="solid"/>
            <a:tailEnd type="triangle"/>
          </a:ln>
        </p:spPr>
      </p:sp>
      <p:sp>
        <p:nvSpPr>
          <p:cNvPr id="11" name="Контекст"/>
          <p:cNvSpPr/>
          <p:nvPr/>
        </p:nvSpPr>
        <p:spPr>
          <a:xfrm>
            <a:off x="4353458" y="1417320"/>
            <a:ext cx="3484778" cy="2011680"/>
          </a:xfrm>
          <a:prstGeom prst="roundRect">
            <a:avLst>
              <a:gd name="adj" fmla="val 6364"/>
            </a:avLst>
          </a:prstGeom>
          <a:solidFill>
            <a:schemeClr val="bg2"/>
          </a:solidFill>
          <a:ln/>
        </p:spPr>
      </p:sp>
      <p:sp>
        <p:nvSpPr>
          <p:cNvPr id="12" name="Shape 9"/>
          <p:cNvSpPr/>
          <p:nvPr/>
        </p:nvSpPr>
        <p:spPr>
          <a:xfrm>
            <a:off x="4627778" y="1691640"/>
            <a:ext cx="594360" cy="59436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0425" y="1834286"/>
            <a:ext cx="309067" cy="30906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52437" y="16459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4627778" y="2423160"/>
            <a:ext cx="2936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Контекст</a:t>
            </a:r>
            <a:endParaRPr lang="en-US" sz="2000" dirty="0"/>
          </a:p>
        </p:txBody>
      </p:sp>
      <p:sp>
        <p:nvSpPr>
          <p:cNvPr id="16" name="Text 12"/>
          <p:cNvSpPr txBox="1"/>
          <p:nvPr/>
        </p:nvSpPr>
        <p:spPr>
          <a:xfrm>
            <a:off x="4627778" y="2807208"/>
            <a:ext cx="2936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«а исходящий?», «его»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7874813" y="2423160"/>
            <a:ext cx="246888" cy="914"/>
          </a:xfrm>
          <a:prstGeom prst="line">
            <a:avLst/>
          </a:prstGeom>
          <a:noFill/>
          <a:ln w="19050">
            <a:solidFill>
              <a:srgbClr val="B84D00"/>
            </a:solidFill>
            <a:prstDash val="solid"/>
            <a:tailEnd type="triangle"/>
          </a:ln>
        </p:spPr>
      </p:sp>
      <p:sp>
        <p:nvSpPr>
          <p:cNvPr id="18" name="Намерение"/>
          <p:cNvSpPr/>
          <p:nvPr/>
        </p:nvSpPr>
        <p:spPr>
          <a:xfrm>
            <a:off x="8158277" y="1417320"/>
            <a:ext cx="3484778" cy="2011680"/>
          </a:xfrm>
          <a:prstGeom prst="roundRect">
            <a:avLst>
              <a:gd name="adj" fmla="val 6364"/>
            </a:avLst>
          </a:prstGeom>
          <a:solidFill>
            <a:schemeClr val="bg2"/>
          </a:solidFill>
          <a:ln/>
        </p:spPr>
      </p:sp>
      <p:sp>
        <p:nvSpPr>
          <p:cNvPr id="19" name="Shape 15"/>
          <p:cNvSpPr/>
          <p:nvPr/>
        </p:nvSpPr>
        <p:spPr>
          <a:xfrm>
            <a:off x="8432597" y="1691640"/>
            <a:ext cx="594360" cy="59436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5243" y="1834286"/>
            <a:ext cx="309067" cy="309067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57255" y="16459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8432597" y="2423160"/>
            <a:ext cx="2936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Намерение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8432597" y="2807208"/>
            <a:ext cx="2936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правила; модель — запасной вариант</a:t>
            </a:r>
            <a:endParaRPr lang="en-US" sz="1400" dirty="0"/>
          </a:p>
        </p:txBody>
      </p:sp>
      <p:sp>
        <p:nvSpPr>
          <p:cNvPr id="24" name="Поиск"/>
          <p:cNvSpPr/>
          <p:nvPr/>
        </p:nvSpPr>
        <p:spPr>
          <a:xfrm>
            <a:off x="548640" y="3794760"/>
            <a:ext cx="3484778" cy="2011680"/>
          </a:xfrm>
          <a:prstGeom prst="roundRect">
            <a:avLst>
              <a:gd name="adj" fmla="val 6364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822960" y="4069080"/>
            <a:ext cx="594360" cy="59436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606" y="4211726"/>
            <a:ext cx="309067" cy="309067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3347618" y="40233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200" dirty="0"/>
          </a:p>
        </p:txBody>
      </p:sp>
      <p:sp>
        <p:nvSpPr>
          <p:cNvPr id="28" name="Text 22"/>
          <p:cNvSpPr txBox="1"/>
          <p:nvPr/>
        </p:nvSpPr>
        <p:spPr>
          <a:xfrm>
            <a:off x="822960" y="4800600"/>
            <a:ext cx="2936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</a:t>
            </a:r>
            <a:endParaRPr lang="en-US" sz="2000" dirty="0"/>
          </a:p>
        </p:txBody>
      </p:sp>
      <p:sp>
        <p:nvSpPr>
          <p:cNvPr id="29" name="Text 23"/>
          <p:cNvSpPr txBox="1"/>
          <p:nvPr/>
        </p:nvSpPr>
        <p:spPr>
          <a:xfrm>
            <a:off x="822960" y="5184648"/>
            <a:ext cx="2936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по смыслу + 20 по словам; 0,8 · близость + 0,2 · слова</a:t>
            </a:r>
            <a:endParaRPr lang="en-US" sz="1400" dirty="0"/>
          </a:p>
        </p:txBody>
      </p:sp>
      <p:sp>
        <p:nvSpPr>
          <p:cNvPr id="30" name="Shape 24"/>
          <p:cNvSpPr/>
          <p:nvPr/>
        </p:nvSpPr>
        <p:spPr>
          <a:xfrm>
            <a:off x="4069994" y="4800600"/>
            <a:ext cx="246888" cy="914"/>
          </a:xfrm>
          <a:prstGeom prst="line">
            <a:avLst/>
          </a:prstGeom>
          <a:noFill/>
          <a:ln w="19050">
            <a:solidFill>
              <a:srgbClr val="B84D00"/>
            </a:solidFill>
            <a:prstDash val="solid"/>
            <a:tailEnd type="triangle"/>
          </a:ln>
        </p:spPr>
      </p:sp>
      <p:sp>
        <p:nvSpPr>
          <p:cNvPr id="31" name="Порог 0,50"/>
          <p:cNvSpPr/>
          <p:nvPr/>
        </p:nvSpPr>
        <p:spPr>
          <a:xfrm>
            <a:off x="4353458" y="3794760"/>
            <a:ext cx="3484778" cy="2011680"/>
          </a:xfrm>
          <a:prstGeom prst="roundRect">
            <a:avLst>
              <a:gd name="adj" fmla="val 6364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4627778" y="4069080"/>
            <a:ext cx="594360" cy="59436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0425" y="4211726"/>
            <a:ext cx="309067" cy="309067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152437" y="40233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200" dirty="0"/>
          </a:p>
        </p:txBody>
      </p:sp>
      <p:sp>
        <p:nvSpPr>
          <p:cNvPr id="35" name="Text 28"/>
          <p:cNvSpPr txBox="1"/>
          <p:nvPr/>
        </p:nvSpPr>
        <p:spPr>
          <a:xfrm>
            <a:off x="4627778" y="4800600"/>
            <a:ext cx="2936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0,50</a:t>
            </a:r>
            <a:endParaRPr lang="en-US" sz="2000" dirty="0"/>
          </a:p>
        </p:txBody>
      </p:sp>
      <p:sp>
        <p:nvSpPr>
          <p:cNvPr id="36" name="Text 29"/>
          <p:cNvSpPr txBox="1"/>
          <p:nvPr/>
        </p:nvSpPr>
        <p:spPr>
          <a:xfrm>
            <a:off x="4627778" y="5184648"/>
            <a:ext cx="2936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ниже — второй шанс, затем отказ</a:t>
            </a:r>
            <a:endParaRPr lang="en-US" sz="1400" dirty="0"/>
          </a:p>
        </p:txBody>
      </p:sp>
      <p:sp>
        <p:nvSpPr>
          <p:cNvPr id="37" name="Shape 30"/>
          <p:cNvSpPr/>
          <p:nvPr/>
        </p:nvSpPr>
        <p:spPr>
          <a:xfrm>
            <a:off x="7874813" y="4800600"/>
            <a:ext cx="246888" cy="914"/>
          </a:xfrm>
          <a:prstGeom prst="line">
            <a:avLst/>
          </a:prstGeom>
          <a:noFill/>
          <a:ln w="19050">
            <a:solidFill>
              <a:srgbClr val="B84D00"/>
            </a:solidFill>
            <a:prstDash val="solid"/>
            <a:tailEnd type="triangle"/>
          </a:ln>
        </p:spPr>
      </p:sp>
      <p:sp>
        <p:nvSpPr>
          <p:cNvPr id="38" name="Ответ"/>
          <p:cNvSpPr/>
          <p:nvPr/>
        </p:nvSpPr>
        <p:spPr>
          <a:xfrm>
            <a:off x="8158277" y="3794760"/>
            <a:ext cx="3484778" cy="2011680"/>
          </a:xfrm>
          <a:prstGeom prst="roundRect">
            <a:avLst>
              <a:gd name="adj" fmla="val 6364"/>
            </a:avLst>
          </a:prstGeom>
          <a:solidFill>
            <a:schemeClr val="bg2"/>
          </a:solidFill>
          <a:ln/>
        </p:spPr>
      </p:sp>
      <p:sp>
        <p:nvSpPr>
          <p:cNvPr id="39" name="Shape 32"/>
          <p:cNvSpPr/>
          <p:nvPr/>
        </p:nvSpPr>
        <p:spPr>
          <a:xfrm>
            <a:off x="8432597" y="4069080"/>
            <a:ext cx="594360" cy="59436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5243" y="4211726"/>
            <a:ext cx="309067" cy="309067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0957255" y="40233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200" dirty="0"/>
          </a:p>
        </p:txBody>
      </p:sp>
      <p:sp>
        <p:nvSpPr>
          <p:cNvPr id="42" name="Text 34"/>
          <p:cNvSpPr txBox="1"/>
          <p:nvPr/>
        </p:nvSpPr>
        <p:spPr>
          <a:xfrm>
            <a:off x="8432597" y="4800600"/>
            <a:ext cx="2936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</a:t>
            </a:r>
            <a:endParaRPr lang="en-US" sz="2000" dirty="0"/>
          </a:p>
        </p:txBody>
      </p:sp>
      <p:sp>
        <p:nvSpPr>
          <p:cNvPr id="43" name="Text 35"/>
          <p:cNvSpPr txBox="1"/>
          <p:nvPr/>
        </p:nvSpPr>
        <p:spPr>
          <a:xfrm>
            <a:off x="8432597" y="5184648"/>
            <a:ext cx="2936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простыми словами → цитата → источники с 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Ошибки модели не доходят до сотрудника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0405872" y="56692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 · B3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149230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463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Ссылки, согласующие, сроки — код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084832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1" y="2205533"/>
            <a:ext cx="261518" cy="26151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2176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объясняет один пункт, t = 0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48640" y="2798064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1" y="2918765"/>
            <a:ext cx="261518" cy="26151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28895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Числа и пункты — только из фрагмента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548640" y="3511296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1" y="3631997"/>
            <a:ext cx="261518" cy="26151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34440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55 % слов — из пункта</a:t>
            </a:r>
            <a:endParaRPr lang="en-US" sz="1800" dirty="0"/>
          </a:p>
        </p:txBody>
      </p:sp>
      <p:sp>
        <p:nvSpPr>
          <p:cNvPr id="16" name="Shape 10"/>
          <p:cNvSpPr/>
          <p:nvPr/>
        </p:nvSpPr>
        <p:spPr>
          <a:xfrm>
            <a:off x="548640" y="4224528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341" y="4345229"/>
            <a:ext cx="261518" cy="26151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234440" y="43159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Ниже порога — честный отказ</a:t>
            </a:r>
            <a:endParaRPr lang="en-US" sz="1800" dirty="0"/>
          </a:p>
        </p:txBody>
      </p:sp>
      <p:sp>
        <p:nvSpPr>
          <p:cNvPr id="19" name="Shape 12"/>
          <p:cNvSpPr/>
          <p:nvPr/>
        </p:nvSpPr>
        <p:spPr>
          <a:xfrm>
            <a:off x="548640" y="493776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341" y="5058461"/>
            <a:ext cx="261518" cy="261518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234440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Вместо угадывания — уточнение</a:t>
            </a:r>
            <a:endParaRPr lang="en-US" sz="1800" dirty="0"/>
          </a:p>
        </p:txBody>
      </p:sp>
      <p:sp>
        <p:nvSpPr>
          <p:cNvPr id="22" name="Text 14"/>
          <p:cNvSpPr txBox="1"/>
          <p:nvPr/>
        </p:nvSpPr>
        <p:spPr>
          <a:xfrm>
            <a:off x="548640" y="57607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не пройдена — показывается только цитата пункта (app/llm/guard.py)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1371600"/>
          <a:ext cx="5650992" cy="914400"/>
        </p:xfrm>
        <a:graphic>
          <a:graphicData uri="http://schemas.openxmlformats.org/drawingml/2006/table">
            <a:tbl>
              <a:tblPr/>
              <a:tblGrid>
                <a:gridCol w="2816352"/>
                <a:gridCol w="146304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Показатель (tests/run_eval.py)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Mac, 99 вопросов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Сервер, 89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Ожидаемый пункт в источниках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40/40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33/33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в т.ч. контрольная выборка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Честный отказ вне базы и провокации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9/9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Утечки закрытых пунктов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Пояснение прошло проверку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25/29 (86 %)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24/29 (83 %)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Живая речь: рабочий / контрольный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24/24 · 24/24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24/24 · 24/24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Время ответа: среднее / p95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0,25 / 0,75 с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 / 8,6 с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 15"/>
          <p:cNvSpPr txBox="1"/>
          <p:nvPr/>
        </p:nvSpPr>
        <p:spPr>
          <a:xfrm>
            <a:off x="5989320" y="5349240"/>
            <a:ext cx="5650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Сервер — 2 vCPU без GPU, прогон до добавления 10 вопросов о сроках (README). Mac — tests/eval_results.md, 24.10.2026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Закрытое не попадает ни в поиск, ни в модель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0405872" y="56692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 · B4</a:t>
            </a:r>
            <a:endParaRPr lang="en-US" sz="1400" dirty="0"/>
          </a:p>
        </p:txBody>
      </p:sp>
      <p:sp>
        <p:nvSpPr>
          <p:cNvPr id="4" name="Роли и уровни"/>
          <p:cNvSpPr/>
          <p:nvPr/>
        </p:nvSpPr>
        <p:spPr>
          <a:xfrm>
            <a:off x="548640" y="132588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326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Роли и уровни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Сотрудник: public, internal. Администратор: + confidential, архив, админ-панель</a:t>
            </a:r>
            <a:endParaRPr lang="en-US" sz="1400" dirty="0"/>
          </a:p>
        </p:txBody>
      </p:sp>
      <p:sp>
        <p:nvSpPr>
          <p:cNvPr id="9" name="Фильтр в запросе"/>
          <p:cNvSpPr/>
          <p:nvPr/>
        </p:nvSpPr>
        <p:spPr>
          <a:xfrm>
            <a:off x="4338218" y="132588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4612538" y="1600200"/>
            <a:ext cx="548640" cy="54864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4212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98338" y="1673352"/>
            <a:ext cx="2326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Фильтр в запросе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233172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в Chroma, BM25 по тому же корпусу; провокация p02 — без утечки</a:t>
            </a:r>
            <a:endParaRPr lang="en-US" sz="1400" dirty="0"/>
          </a:p>
        </p:txBody>
      </p:sp>
      <p:sp>
        <p:nvSpPr>
          <p:cNvPr id="14" name="ПДн маскируются"/>
          <p:cNvSpPr/>
          <p:nvPr/>
        </p:nvSpPr>
        <p:spPr>
          <a:xfrm>
            <a:off x="8127797" y="132588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5" name="Shape 11"/>
          <p:cNvSpPr/>
          <p:nvPr/>
        </p:nvSpPr>
        <p:spPr>
          <a:xfrm>
            <a:off x="8402117" y="1600200"/>
            <a:ext cx="548640" cy="54864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3790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87917" y="1673352"/>
            <a:ext cx="2326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ПДн маскируются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233172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журналах и до передачи модели: ФИО, телефоны, СНИЛС, паспорт</a:t>
            </a:r>
            <a:endParaRPr lang="en-US" sz="1400" dirty="0"/>
          </a:p>
        </p:txBody>
      </p:sp>
      <p:sp>
        <p:nvSpPr>
          <p:cNvPr id="19" name="Аудит-лог"/>
          <p:cNvSpPr/>
          <p:nvPr/>
        </p:nvSpPr>
        <p:spPr>
          <a:xfrm>
            <a:off x="548640" y="379476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20" name="Shape 15"/>
          <p:cNvSpPr/>
          <p:nvPr/>
        </p:nvSpPr>
        <p:spPr>
          <a:xfrm>
            <a:off x="822960" y="4069080"/>
            <a:ext cx="548640" cy="54864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20075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142232"/>
            <a:ext cx="2326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Аудит-лог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80060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кто, когда, что спросил, какие источники получил</a:t>
            </a:r>
            <a:endParaRPr lang="en-US" sz="1400" dirty="0"/>
          </a:p>
        </p:txBody>
      </p:sp>
      <p:sp>
        <p:nvSpPr>
          <p:cNvPr id="24" name="Prompt injection"/>
          <p:cNvSpPr/>
          <p:nvPr/>
        </p:nvSpPr>
        <p:spPr>
          <a:xfrm>
            <a:off x="4338218" y="379476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25" name="Shape 19"/>
          <p:cNvSpPr/>
          <p:nvPr/>
        </p:nvSpPr>
        <p:spPr>
          <a:xfrm>
            <a:off x="4612538" y="4069080"/>
            <a:ext cx="548640" cy="54864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4212" y="420075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98338" y="4142232"/>
            <a:ext cx="2326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injection</a:t>
            </a:r>
            <a:endParaRPr lang="en-US" sz="2000" dirty="0"/>
          </a:p>
        </p:txBody>
      </p:sp>
      <p:sp>
        <p:nvSpPr>
          <p:cNvPr id="28" name="Text 21"/>
          <p:cNvSpPr txBox="1"/>
          <p:nvPr/>
        </p:nvSpPr>
        <p:spPr>
          <a:xfrm>
            <a:off x="4612538" y="480060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в разделителях, ответ проверяется; eval p01 — отказ</a:t>
            </a:r>
            <a:endParaRPr lang="en-US" sz="1400" dirty="0"/>
          </a:p>
        </p:txBody>
      </p:sp>
      <p:sp>
        <p:nvSpPr>
          <p:cNvPr id="29" name="Без внешней сети"/>
          <p:cNvSpPr/>
          <p:nvPr/>
        </p:nvSpPr>
        <p:spPr>
          <a:xfrm>
            <a:off x="8127797" y="379476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30" name="Shape 23"/>
          <p:cNvSpPr/>
          <p:nvPr/>
        </p:nvSpPr>
        <p:spPr>
          <a:xfrm>
            <a:off x="8402117" y="4069080"/>
            <a:ext cx="548640" cy="54864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3790" y="420075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87917" y="4142232"/>
            <a:ext cx="2326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внешней сети</a:t>
            </a:r>
            <a:endParaRPr lang="en-US" sz="2000" dirty="0"/>
          </a:p>
        </p:txBody>
      </p:sp>
      <p:sp>
        <p:nvSpPr>
          <p:cNvPr id="33" name="Text 25"/>
          <p:cNvSpPr txBox="1"/>
          <p:nvPr/>
        </p:nvSpPr>
        <p:spPr>
          <a:xfrm>
            <a:off x="8402117" y="480060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модели локально; check_egress.sh: только localhost; стенд — 0 исходящих пакетов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Редакции меняются без правки кода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0405872" y="56692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 · B5</a:t>
            </a:r>
            <a:endParaRPr lang="en-US" sz="1400" dirty="0"/>
          </a:p>
        </p:txBody>
      </p:sp>
      <p:sp>
        <p:nvSpPr>
          <p:cNvPr id="4" name="Загрузка"/>
          <p:cNvSpPr/>
          <p:nvPr/>
        </p:nvSpPr>
        <p:spPr>
          <a:xfrm>
            <a:off x="548640" y="1463040"/>
            <a:ext cx="1920240" cy="2514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1165860" y="1691640"/>
            <a:ext cx="685800" cy="6858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0452" y="1856232"/>
            <a:ext cx="356616" cy="3566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5146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Загрузка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2004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админ-панель или scripts/ingest.py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2514600" y="2651760"/>
            <a:ext cx="281864" cy="914"/>
          </a:xfrm>
          <a:prstGeom prst="line">
            <a:avLst/>
          </a:prstGeom>
          <a:noFill/>
          <a:ln w="19050">
            <a:solidFill>
              <a:srgbClr val="B84D00"/>
            </a:solidFill>
            <a:prstDash val="solid"/>
            <a:tailEnd type="triangle"/>
          </a:ln>
        </p:spPr>
      </p:sp>
      <p:sp>
        <p:nvSpPr>
          <p:cNvPr id="10" name="Разбор и индекс"/>
          <p:cNvSpPr/>
          <p:nvPr/>
        </p:nvSpPr>
        <p:spPr>
          <a:xfrm>
            <a:off x="2842184" y="1463040"/>
            <a:ext cx="1920240" cy="2514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3459404" y="1691640"/>
            <a:ext cx="685800" cy="6858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3996" y="185623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979344" y="25146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Разбор и индекс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2979344" y="32004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пункты, bge-m3, в фоне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808144" y="2651760"/>
            <a:ext cx="281864" cy="914"/>
          </a:xfrm>
          <a:prstGeom prst="line">
            <a:avLst/>
          </a:prstGeom>
          <a:noFill/>
          <a:ln w="19050">
            <a:solidFill>
              <a:srgbClr val="B84D00"/>
            </a:solidFill>
            <a:prstDash val="solid"/>
            <a:tailEnd type="triangle"/>
          </a:ln>
        </p:spPr>
      </p:sp>
      <p:sp>
        <p:nvSpPr>
          <p:cNvPr id="16" name="Прежняя → архив"/>
          <p:cNvSpPr/>
          <p:nvPr/>
        </p:nvSpPr>
        <p:spPr>
          <a:xfrm>
            <a:off x="5135728" y="1463040"/>
            <a:ext cx="1920240" cy="2514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7" name="Shape 13"/>
          <p:cNvSpPr/>
          <p:nvPr/>
        </p:nvSpPr>
        <p:spPr>
          <a:xfrm>
            <a:off x="5752948" y="1691640"/>
            <a:ext cx="685800" cy="6858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7540" y="1856232"/>
            <a:ext cx="356616" cy="35661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272888" y="25146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Прежняя → архив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5272888" y="32004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остаётся для истории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7101688" y="2651760"/>
            <a:ext cx="281864" cy="914"/>
          </a:xfrm>
          <a:prstGeom prst="line">
            <a:avLst/>
          </a:prstGeom>
          <a:noFill/>
          <a:ln w="19050">
            <a:solidFill>
              <a:srgbClr val="B84D00"/>
            </a:solidFill>
            <a:prstDash val="solid"/>
            <a:tailEnd type="triangle"/>
          </a:ln>
        </p:spPr>
      </p:sp>
      <p:sp>
        <p:nvSpPr>
          <p:cNvPr id="22" name="Дифф пунктов"/>
          <p:cNvSpPr/>
          <p:nvPr/>
        </p:nvSpPr>
        <p:spPr>
          <a:xfrm>
            <a:off x="7429271" y="1463040"/>
            <a:ext cx="1920240" cy="2514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8046491" y="1691640"/>
            <a:ext cx="685800" cy="6858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083" y="1856232"/>
            <a:ext cx="356616" cy="35661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566431" y="25146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Дифф пунктов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566431" y="32004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добавлены, удалены, изменены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9395231" y="2651760"/>
            <a:ext cx="281864" cy="914"/>
          </a:xfrm>
          <a:prstGeom prst="line">
            <a:avLst/>
          </a:prstGeom>
          <a:noFill/>
          <a:ln w="19050">
            <a:solidFill>
              <a:srgbClr val="B84D00"/>
            </a:solidFill>
            <a:prstDash val="solid"/>
            <a:tailEnd type="triangle"/>
          </a:ln>
        </p:spPr>
      </p:sp>
      <p:sp>
        <p:nvSpPr>
          <p:cNvPr id="28" name="Новость на портале"/>
          <p:cNvSpPr/>
          <p:nvPr/>
        </p:nvSpPr>
        <p:spPr>
          <a:xfrm>
            <a:off x="9722815" y="1463040"/>
            <a:ext cx="1920240" cy="2514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9" name="Shape 23"/>
          <p:cNvSpPr/>
          <p:nvPr/>
        </p:nvSpPr>
        <p:spPr>
          <a:xfrm>
            <a:off x="10340035" y="1691640"/>
            <a:ext cx="685800" cy="6858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04627" y="1856232"/>
            <a:ext cx="356616" cy="356616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859975" y="25146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Новость на портале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9859975" y="32004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ролям с доступом</a:t>
            </a:r>
            <a:endParaRPr lang="en-US" sz="1400" dirty="0"/>
          </a:p>
        </p:txBody>
      </p:sp>
      <p:sp>
        <p:nvSpPr>
          <p:cNvPr id="33" name="Shape 26"/>
          <p:cNvSpPr/>
          <p:nvPr/>
        </p:nvSpPr>
        <p:spPr>
          <a:xfrm>
            <a:off x="548640" y="425196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341" y="4372661"/>
            <a:ext cx="261518" cy="261518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234440" y="434340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Откат — «Сделать действующей» у архивной редакции</a:t>
            </a:r>
            <a:endParaRPr lang="en-US" sz="1800" dirty="0"/>
          </a:p>
        </p:txBody>
      </p:sp>
      <p:sp>
        <p:nvSpPr>
          <p:cNvPr id="36" name="Shape 28"/>
          <p:cNvSpPr/>
          <p:nvPr/>
        </p:nvSpPr>
        <p:spPr>
          <a:xfrm>
            <a:off x="6217920" y="425196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8621" y="4372661"/>
            <a:ext cx="261518" cy="261518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903720" y="434340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 по умолчанию — только действующая редакция</a:t>
            </a:r>
            <a:endParaRPr lang="en-US" sz="1800" dirty="0"/>
          </a:p>
        </p:txBody>
      </p:sp>
      <p:sp>
        <p:nvSpPr>
          <p:cNvPr id="39" name="Shape 30"/>
          <p:cNvSpPr/>
          <p:nvPr/>
        </p:nvSpPr>
        <p:spPr>
          <a:xfrm>
            <a:off x="548640" y="502920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341" y="5149901"/>
            <a:ext cx="261518" cy="261518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1234440" y="512064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каждом источнике — редакция и дата вступления в силу</a:t>
            </a:r>
            <a:endParaRPr lang="en-US" sz="1800" dirty="0"/>
          </a:p>
        </p:txBody>
      </p:sp>
      <p:sp>
        <p:nvSpPr>
          <p:cNvPr id="42" name="Shape 32"/>
          <p:cNvSpPr/>
          <p:nvPr/>
        </p:nvSpPr>
        <p:spPr>
          <a:xfrm>
            <a:off x="6217920" y="502920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4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8621" y="5149901"/>
            <a:ext cx="261518" cy="261518"/>
          </a:xfrm>
          <a:prstGeom prst="rect">
            <a:avLst/>
          </a:prstGeom>
        </p:spPr>
      </p:pic>
      <p:sp>
        <p:nvSpPr>
          <p:cNvPr id="44" name="Text 33"/>
          <p:cNvSpPr txBox="1"/>
          <p:nvPr/>
        </p:nvSpPr>
        <p:spPr>
          <a:xfrm>
            <a:off x="6903720" y="512064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Администратор может искать и по архиву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Сроки — датами, портал — с телефона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0405872" y="56692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 · B6</a:t>
            </a:r>
            <a:endParaRPr lang="en-US" sz="1400" dirty="0"/>
          </a:p>
        </p:txBody>
      </p:sp>
      <p:pic>
        <p:nvPicPr>
          <p:cNvPr id="4" name="Image 0" descr="Ответ: крайняя дата и таблица этапо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480560" cy="4503075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548640" y="1325880"/>
            <a:ext cx="4480560" cy="4503075"/>
          </a:xfrm>
          <a:prstGeom prst="roundRect">
            <a:avLst>
              <a:gd name="adj" fmla="val 2449"/>
            </a:avLst>
          </a:prstGeom>
          <a:ln w="12700">
            <a:solidFill>
              <a:srgbClr val="26262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920395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Отправка в субботу, 24.10.2026: отсчёт с понедельника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349240" y="1371600"/>
            <a:ext cx="457200" cy="4572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8968" y="148132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0" y="135331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 — из текста п. 10.3, 10.15, 6.6, 6.7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349240" y="2304288"/>
            <a:ext cx="457200" cy="4572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8968" y="2414016"/>
            <a:ext cx="237744" cy="23774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943600" y="22860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Календарь РФ 2026–2027 в YAML: праздники, переносы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349240" y="3236976"/>
            <a:ext cx="457200" cy="4572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8968" y="3346704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943600" y="3218688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 отправки не считается, выходной — с понедельника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5349240" y="4169664"/>
            <a:ext cx="457200" cy="4572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8968" y="4279392"/>
            <a:ext cx="237744" cy="23774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5943600" y="415137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Срока в Инструкции нет — честный отказ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5349240" y="5102352"/>
            <a:ext cx="457200" cy="4572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8968" y="5212080"/>
            <a:ext cx="237744" cy="23774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5943600" y="50840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768 px — меню «бургер» с теми же пунктами</a:t>
            </a:r>
            <a:endParaRPr lang="en-US" sz="1600" dirty="0"/>
          </a:p>
        </p:txBody>
      </p:sp>
      <p:sp>
        <p:nvSpPr>
          <p:cNvPr id="22" name="Рамка телефона"/>
          <p:cNvSpPr/>
          <p:nvPr/>
        </p:nvSpPr>
        <p:spPr>
          <a:xfrm>
            <a:off x="9336024" y="1243584"/>
            <a:ext cx="2313432" cy="4815761"/>
          </a:xfrm>
          <a:prstGeom prst="roundRect">
            <a:avLst>
              <a:gd name="adj" fmla="val 12648"/>
            </a:avLst>
          </a:prstGeom>
          <a:solidFill>
            <a:srgbClr val="0A0A0A"/>
          </a:solidFill>
          <a:ln w="19050">
            <a:solidFill>
              <a:srgbClr val="737373"/>
            </a:solidFill>
            <a:prstDash val="solid"/>
          </a:ln>
        </p:spPr>
      </p:sp>
      <p:pic>
        <p:nvPicPr>
          <p:cNvPr id="23" name="Image 6" descr="Портал на телефоне 390×844: открытое меню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18320" y="1325880"/>
            <a:ext cx="2148840" cy="4651169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9336024" y="6114209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Телефон 390×844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внедрения: предложение, а не факт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0405872" y="56692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 · B7</a:t>
            </a:r>
            <a:endParaRPr lang="en-US" sz="1400" dirty="0"/>
          </a:p>
        </p:txBody>
      </p:sp>
      <p:sp>
        <p:nvSpPr>
          <p:cNvPr id="4" name="Пилот"/>
          <p:cNvSpPr/>
          <p:nvPr/>
        </p:nvSpPr>
        <p:spPr>
          <a:xfrm>
            <a:off x="548640" y="1463040"/>
            <a:ext cx="2533574" cy="3566160"/>
          </a:xfrm>
          <a:prstGeom prst="roundRect">
            <a:avLst>
              <a:gd name="adj" fmla="val 5053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89097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83080"/>
            <a:ext cx="1344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2057400"/>
            <a:ext cx="13448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834640"/>
            <a:ext cx="207637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Стенд в контуре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Вопросы сотрудников → eval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3118790" y="3246120"/>
            <a:ext cx="246888" cy="914"/>
          </a:xfrm>
          <a:prstGeom prst="line">
            <a:avLst/>
          </a:prstGeom>
          <a:noFill/>
          <a:ln w="19050">
            <a:solidFill>
              <a:srgbClr val="B84D00"/>
            </a:solidFill>
            <a:prstDash val="solid"/>
            <a:tailEnd type="triangle"/>
          </a:ln>
        </p:spPr>
      </p:sp>
      <p:sp>
        <p:nvSpPr>
          <p:cNvPr id="11" name="Портал и ИИС ДО"/>
          <p:cNvSpPr/>
          <p:nvPr/>
        </p:nvSpPr>
        <p:spPr>
          <a:xfrm>
            <a:off x="3402254" y="1463040"/>
            <a:ext cx="2533574" cy="3566160"/>
          </a:xfrm>
          <a:prstGeom prst="roundRect">
            <a:avLst>
              <a:gd name="adj" fmla="val 5053"/>
            </a:avLst>
          </a:prstGeom>
          <a:solidFill>
            <a:schemeClr val="bg2"/>
          </a:solidFill>
          <a:ln/>
        </p:spPr>
      </p:sp>
      <p:sp>
        <p:nvSpPr>
          <p:cNvPr id="12" name="Shape 9"/>
          <p:cNvSpPr/>
          <p:nvPr/>
        </p:nvSpPr>
        <p:spPr>
          <a:xfrm>
            <a:off x="3676574" y="1737360"/>
            <a:ext cx="640080" cy="64008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0193" y="1890979"/>
            <a:ext cx="332842" cy="33284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453814" y="1783080"/>
            <a:ext cx="1344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2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453814" y="2057400"/>
            <a:ext cx="13448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Портал и ИИС ДО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3676574" y="2834640"/>
            <a:ext cx="207637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Виджет одной строкой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API, грифы из ИИС ДО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972404" y="3246120"/>
            <a:ext cx="246888" cy="914"/>
          </a:xfrm>
          <a:prstGeom prst="line">
            <a:avLst/>
          </a:prstGeom>
          <a:noFill/>
          <a:ln w="19050">
            <a:solidFill>
              <a:srgbClr val="B84D00"/>
            </a:solidFill>
            <a:prstDash val="solid"/>
            <a:tailEnd type="triangle"/>
          </a:ln>
        </p:spPr>
      </p:sp>
      <p:sp>
        <p:nvSpPr>
          <p:cNvPr id="18" name="SSO и SIEM"/>
          <p:cNvSpPr/>
          <p:nvPr/>
        </p:nvSpPr>
        <p:spPr>
          <a:xfrm>
            <a:off x="6255868" y="1463040"/>
            <a:ext cx="2533574" cy="3566160"/>
          </a:xfrm>
          <a:prstGeom prst="roundRect">
            <a:avLst>
              <a:gd name="adj" fmla="val 5053"/>
            </a:avLst>
          </a:prstGeom>
          <a:solidFill>
            <a:schemeClr val="bg2"/>
          </a:solidFill>
          <a:ln/>
        </p:spPr>
      </p:sp>
      <p:sp>
        <p:nvSpPr>
          <p:cNvPr id="19" name="Shape 15"/>
          <p:cNvSpPr/>
          <p:nvPr/>
        </p:nvSpPr>
        <p:spPr>
          <a:xfrm>
            <a:off x="6530188" y="1737360"/>
            <a:ext cx="640080" cy="64008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3807" y="1890979"/>
            <a:ext cx="332842" cy="33284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307428" y="1783080"/>
            <a:ext cx="1344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3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7307428" y="2057400"/>
            <a:ext cx="13448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SSO и SIEM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530188" y="2834640"/>
            <a:ext cx="207637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Роли из групп AD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Аудит в SIEM, шифрование тома</a:t>
            </a:r>
            <a:endParaRPr lang="en-US" sz="1800" dirty="0"/>
          </a:p>
        </p:txBody>
      </p:sp>
      <p:sp>
        <p:nvSpPr>
          <p:cNvPr id="24" name="Shape 19"/>
          <p:cNvSpPr/>
          <p:nvPr/>
        </p:nvSpPr>
        <p:spPr>
          <a:xfrm>
            <a:off x="8826017" y="3246120"/>
            <a:ext cx="246888" cy="914"/>
          </a:xfrm>
          <a:prstGeom prst="line">
            <a:avLst/>
          </a:prstGeom>
          <a:noFill/>
          <a:ln w="19050">
            <a:solidFill>
              <a:srgbClr val="B84D00"/>
            </a:solidFill>
            <a:prstDash val="solid"/>
            <a:tailEnd type="triangle"/>
          </a:ln>
        </p:spPr>
      </p:sp>
      <p:sp>
        <p:nvSpPr>
          <p:cNvPr id="25" name="Другие процессы"/>
          <p:cNvSpPr/>
          <p:nvPr/>
        </p:nvSpPr>
        <p:spPr>
          <a:xfrm>
            <a:off x="9109481" y="1463040"/>
            <a:ext cx="2533574" cy="3566160"/>
          </a:xfrm>
          <a:prstGeom prst="roundRect">
            <a:avLst>
              <a:gd name="adj" fmla="val 5053"/>
            </a:avLst>
          </a:prstGeom>
          <a:solidFill>
            <a:schemeClr val="bg2"/>
          </a:solidFill>
          <a:ln/>
        </p:spPr>
      </p:sp>
      <p:sp>
        <p:nvSpPr>
          <p:cNvPr id="26" name="Shape 21"/>
          <p:cNvSpPr/>
          <p:nvPr/>
        </p:nvSpPr>
        <p:spPr>
          <a:xfrm>
            <a:off x="9383801" y="1737360"/>
            <a:ext cx="640080" cy="64008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7421" y="1890979"/>
            <a:ext cx="332842" cy="33284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0161041" y="1783080"/>
            <a:ext cx="1344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4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10161041" y="2057400"/>
            <a:ext cx="13448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Другие процессы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9383801" y="2834640"/>
            <a:ext cx="207637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Новые регламенты, справочники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Новые намерения</a:t>
            </a:r>
            <a:endParaRPr lang="en-US" sz="1800" dirty="0"/>
          </a:p>
        </p:txBody>
      </p:sp>
      <p:sp>
        <p:nvSpPr>
          <p:cNvPr id="31" name="Text 25"/>
          <p:cNvSpPr txBox="1"/>
          <p:nvPr/>
        </p:nvSpPr>
        <p:spPr>
          <a:xfrm>
            <a:off x="548640" y="53492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Сроки этапов не оценивались: длительность определится по итогам пилота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Честные ограничения и как их снять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0405872" y="56692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 · B8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1446581"/>
            <a:ext cx="261518" cy="261518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80160" y="1325880"/>
          <a:ext cx="10362895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45079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Ограничение (README, docs/decisions.md)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Как снять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Модель 1,5B: пояснение проходит проверку в 25 из 29 ответов, иначе — только цитата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qwen2.5 7B / 14B одной строкой config.yaml (16 / от 24 ГБ ОЗУ)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вопросов сразу на 2 vCPU: последний ответ ~42 с, пояснение у 4 из 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Больше ядер или GPU; ожидание модели ограничено 30 с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Первый ответ после простоя ~9 с: загрузка моделей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Прогревочный запрос перед работой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Docker Compose не проверялся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Проверить в контуре заказчика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Календарь 2027 — предварительный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Внести постановление о переносах в YAML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Свои учётные записи; портал — на домене организации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SSO: Keycloak / ADFS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Примеров запросов от заказчика не было — вопросы eval составлены самостоятельно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Дополнить eval реальными вопросами пилота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3737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aphite DOU">
  <a:themeElements>
    <a:clrScheme name="Graphite DOU">
      <a:dk1>
        <a:srgbClr val="0A0A0A"/>
      </a:dk1>
      <a:lt1>
        <a:srgbClr val="FFFFFF"/>
      </a:lt1>
      <a:dk2>
        <a:srgbClr val="171717"/>
      </a:dk2>
      <a:lt2>
        <a:srgbClr val="F4F4F5"/>
      </a:lt2>
      <a:accent1>
        <a:srgbClr val="B84D00"/>
      </a:accent1>
      <a:accent2>
        <a:srgbClr val="FF8833"/>
      </a:accent2>
      <a:accent3>
        <a:srgbClr val="262626"/>
      </a:accent3>
      <a:accent4>
        <a:srgbClr val="737373"/>
      </a:accent4>
      <a:accent5>
        <a:srgbClr val="E4E4E7"/>
      </a:accent5>
      <a:accent6>
        <a:srgbClr val="5C5C5C"/>
      </a:accent6>
      <a:hlink>
        <a:srgbClr val="B84D00"/>
      </a:hlink>
      <a:folHlink>
        <a:srgbClr val="737373"/>
      </a:folHlink>
    </a:clrScheme>
    <a:fontScheme name="Graphite DOU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Помощник по документообороту — защита проекта</dc:title>
  <dc:subject>PptxGenJS Presentation</dc:subject>
  <dc:creator>Команда проекта</dc:creator>
  <cp:lastModifiedBy>Команда проекта</cp:lastModifiedBy>
  <cp:revision>1</cp:revision>
  <dcterms:created xsi:type="dcterms:W3CDTF">2026-10-24T17:48:23Z</dcterms:created>
  <dcterms:modified xsi:type="dcterms:W3CDTF">2026-10-24T17:48:23Z</dcterms:modified>
</cp:coreProperties>
</file>